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1654" r:id="rId2"/>
    <p:sldId id="1655" r:id="rId3"/>
    <p:sldId id="1656" r:id="rId4"/>
    <p:sldId id="1657" r:id="rId5"/>
    <p:sldId id="1659" r:id="rId6"/>
    <p:sldId id="1660" r:id="rId7"/>
    <p:sldId id="16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01"/>
    <a:srgbClr val="F0F0F0"/>
    <a:srgbClr val="FF0202"/>
    <a:srgbClr val="7DC088"/>
    <a:srgbClr val="F288FF"/>
    <a:srgbClr val="D59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218"/>
  </p:normalViewPr>
  <p:slideViewPr>
    <p:cSldViewPr snapToGrid="0">
      <p:cViewPr varScale="1">
        <p:scale>
          <a:sx n="120" d="100"/>
          <a:sy n="120" d="100"/>
        </p:scale>
        <p:origin x="1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FB03C-1A14-1E4B-9635-9D271F269445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0DC20-4478-734E-BAA4-8F4E05DDD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07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61375-DFEF-4532-A599-6C0465A98F9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377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04589-E576-2F62-7197-32195D46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58D60A-D2C5-6B4D-B81E-7A7D92B65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1130E2-C87E-A7AD-DE32-6B456A412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871F22-5B70-94CE-1821-CA79E9B14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61375-DFEF-4532-A599-6C0465A98F9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525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06400-9ECE-AC93-6A3F-FD62755D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11730D-C2E0-DC90-A26B-1EB826E3D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1D5EC6-CFBE-6D1C-1EAE-236481A91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D3B30B-660F-A87C-C901-F22B484B16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61375-DFEF-4532-A599-6C0465A98F9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547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EE9AB-BEBF-9199-E9EF-0F4536855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8069D3-D758-0B02-4AA3-579EC0257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1F146F-8A59-00DC-2024-00409EE0C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817895-C509-477F-4BD8-DABEFE96B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61375-DFEF-4532-A599-6C0465A98F9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460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C7AA-BEAE-3B23-1B6C-5EC29D5C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5D2C90-C116-EFF7-015B-C2CE0CCF0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A3C563-3BE4-9966-54FC-BD5BD8023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F6DB30-5C52-099C-EE21-59686AE6E6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61375-DFEF-4532-A599-6C0465A98F9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662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E96E-BB29-B4C3-8B7B-F7732F88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2F28B5-981A-0E10-BC31-5FBAFBD17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89CD8B-9962-28C6-2520-EF808DB2F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F8304-C9DC-07FB-CCE7-91ADD90B5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61375-DFEF-4532-A599-6C0465A98F9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577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EA8A0-24CE-C2DA-5103-DD0C78A64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AD747A-5DD3-FBAF-D682-751FCB991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BA9F41-EA49-4F0F-3A63-05989B100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8ABF1C-2A18-7D44-927C-F920F80D3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61375-DFEF-4532-A599-6C0465A98F9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416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FB74-3B29-2E3B-28A7-C71DFB07C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E3FAD-8F80-E5FA-EACB-E45969585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0BF45-8CE8-33FF-6AF8-6DDFAFA1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FA071-B4FC-A2A2-DB01-88445BF0B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66828-68A2-48DB-BCB0-9311AF4A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1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121D7-57E4-99AB-5882-566C0097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F10A1-D339-F7BB-D6F7-660CB3F40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3201-A399-6E33-41A8-69E780CD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56BD5-DDB3-81B3-2116-175A6340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8CFBC-17E5-F10A-29E6-4FAF47DD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56AC-2C55-9A84-0225-37BB5652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8C9EC-EA76-15DC-0AD2-56179F4F8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47695-AEFE-6E74-EE24-BA22CAD6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E3E06-5B40-7C14-91E4-82374768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AC2F2-26AD-76DC-60D0-F721D2CA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7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E201-5533-FACA-A746-6508D7B4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2C1C0-FE6C-7E23-E063-54D17D5E8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CB3E2-CE4E-DC7E-CFE4-A015A9AC9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B1C20-7C05-7659-86D5-A1F711760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8E373-1148-77C0-FE6F-808B71AEE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B3E4-615E-5E6B-64F0-30ACC2356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0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9C6A-E9C0-EE88-C49A-96119F84A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71139-9907-D82F-C3F8-EC5FAF86C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02DA1-59ED-7116-D1FE-5EE115BFB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B029FD-BC69-E6B4-A54F-BC676B072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E1500-5CCB-405A-78A8-BD8B9A9119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AD519B-73D2-9583-5D7A-BB7805407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91E4EA-2945-4586-52EC-843DF5E3E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F44280-390D-EDEE-4C36-33422B10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5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C5382-EB04-1A2C-890C-2873F3FDC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4079A-8C4B-E1E2-9E3A-4CCD3164F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8233E-DAB4-FCAE-AA51-410D7472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697AD-6356-1B1A-5A95-E17FBC5B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6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404D2-FF99-231C-BB61-E1A475AF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C9831-1B58-1B27-BF44-CA349444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9214F-69A1-D3D7-86B7-D49231CD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6A2AA-FC9D-6BFB-531F-7F70E925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A5122-C71D-DFD7-440E-238BE7663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8BFA0-6E40-909D-CD04-0CC4F2880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CC9A7-9775-F372-9D5E-E67B1E337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9EC36-E8F2-97C3-DD95-97DC5DB9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74E61-F616-9F79-BB75-85044D7F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7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3489-FF2A-4054-056F-869773DE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79FBAD-871D-AC00-A52C-FC85739A8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5D737-5DC7-EC5C-564C-AF82EE1C9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9C599-4D09-EA3F-AFE4-F9E746B1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556FD-BF87-7178-D411-34DD5DE3E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F37FA-CE7C-184A-A98D-393990DA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4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8634-3A46-1539-F9CB-F62304C9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C7C91-3F3B-F341-A01C-F819F4ECD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4750-0B03-4CE1-397B-0C913B749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6619D-292E-C643-A26E-D979078E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BB42-B197-0FD3-C4AD-BB9F9F5F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2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12E131-01E9-515F-BECF-616CC8A90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6AE2B-5D6D-0A68-23BC-8E75E7F52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A91AA-74C1-B5B7-1BF5-0D6FC73B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3247E-D131-7F4C-D1CC-9F21EC4A2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ABFE2-DA54-1173-660A-5C0F879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3EE84-D984-D75E-9DE4-EEF142213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FA59B-4173-33F2-70F7-0CB67E0B5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1D68B-4811-01EF-4683-53DE838C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00A69-E17A-A746-A181-9D00506B9BDC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522C4-2AEA-5AD9-AECC-3788921E6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D160B-6B74-9DFA-C836-404DA3542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AEDC2-64E7-9B49-AEAC-00277FFAE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0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0471" y="287852"/>
            <a:ext cx="11063786" cy="613669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Null-Space Attack on AC Systems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133339"/>
            <a:ext cx="121920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94925CD-F95A-4C6C-AE8B-4232A1210531}"/>
              </a:ext>
            </a:extLst>
          </p:cNvPr>
          <p:cNvSpPr txBox="1"/>
          <p:nvPr/>
        </p:nvSpPr>
        <p:spPr>
          <a:xfrm>
            <a:off x="490471" y="1562986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A7DE6-8188-E4CC-F9AB-B62855DF35DB}"/>
              </a:ext>
            </a:extLst>
          </p:cNvPr>
          <p:cNvSpPr txBox="1"/>
          <p:nvPr/>
        </p:nvSpPr>
        <p:spPr>
          <a:xfrm>
            <a:off x="5735866" y="1562986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5BD768-DB8B-46CF-A998-D15C7928EA4E}"/>
                  </a:ext>
                </a:extLst>
              </p:cNvPr>
              <p:cNvSpPr txBox="1"/>
              <p:nvPr/>
            </p:nvSpPr>
            <p:spPr>
              <a:xfrm>
                <a:off x="490471" y="1992632"/>
                <a:ext cx="13489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5BD768-DB8B-46CF-A998-D15C7928E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71" y="1992632"/>
                <a:ext cx="134896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F2F1FD-C762-2E10-786F-44460A6BFDDB}"/>
                  </a:ext>
                </a:extLst>
              </p:cNvPr>
              <p:cNvSpPr txBox="1"/>
              <p:nvPr/>
            </p:nvSpPr>
            <p:spPr>
              <a:xfrm>
                <a:off x="490471" y="2869721"/>
                <a:ext cx="1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Find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F2F1FD-C762-2E10-786F-44460A6BF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71" y="2869721"/>
                <a:ext cx="1637414" cy="369332"/>
              </a:xfrm>
              <a:prstGeom prst="rect">
                <a:avLst/>
              </a:prstGeom>
              <a:blipFill>
                <a:blip r:embed="rId4"/>
                <a:stretch>
                  <a:fillRect l="-3077" t="-10345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3B2DF03-9A7F-411C-A271-E54C4CA7447F}"/>
                  </a:ext>
                </a:extLst>
              </p:cNvPr>
              <p:cNvSpPr txBox="1"/>
              <p:nvPr/>
            </p:nvSpPr>
            <p:spPr>
              <a:xfrm>
                <a:off x="915772" y="3603103"/>
                <a:ext cx="20507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3B2DF03-9A7F-411C-A271-E54C4CA74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72" y="3603103"/>
                <a:ext cx="2050711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2B2E711-AF55-66B9-9068-E41962473E19}"/>
              </a:ext>
            </a:extLst>
          </p:cNvPr>
          <p:cNvSpPr txBox="1"/>
          <p:nvPr/>
        </p:nvSpPr>
        <p:spPr>
          <a:xfrm>
            <a:off x="490470" y="3244334"/>
            <a:ext cx="404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Attack to Bypass Anomaly Detector: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61EDE0-7DBD-B4CD-34DA-BD3C9A1D3704}"/>
                  </a:ext>
                </a:extLst>
              </p:cNvPr>
              <p:cNvSpPr txBox="1"/>
              <p:nvPr/>
            </p:nvSpPr>
            <p:spPr>
              <a:xfrm>
                <a:off x="1244007" y="3970524"/>
                <a:ext cx="1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61EDE0-7DBD-B4CD-34DA-BD3C9A1D3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007" y="3970524"/>
                <a:ext cx="16374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FB51C1-99F5-EBC8-AC24-D62B193E0744}"/>
                  </a:ext>
                </a:extLst>
              </p:cNvPr>
              <p:cNvSpPr txBox="1"/>
              <p:nvPr/>
            </p:nvSpPr>
            <p:spPr>
              <a:xfrm>
                <a:off x="5474970" y="2004171"/>
                <a:ext cx="18983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FB51C1-99F5-EBC8-AC24-D62B193E0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970" y="2004171"/>
                <a:ext cx="1898310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AF705290-9750-1ACE-E364-FB1E2956EA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5351" y="1992630"/>
            <a:ext cx="3678906" cy="3693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809563C-CDAE-423B-B9AD-0F00A860E1CD}"/>
              </a:ext>
            </a:extLst>
          </p:cNvPr>
          <p:cNvSpPr txBox="1"/>
          <p:nvPr/>
        </p:nvSpPr>
        <p:spPr>
          <a:xfrm>
            <a:off x="5735866" y="2869721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Find</a:t>
            </a:r>
            <a:r>
              <a:rPr lang="en-US" dirty="0"/>
              <a:t>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6D31596-A3CD-8B9F-864D-CE514FEBDC39}"/>
                  </a:ext>
                </a:extLst>
              </p:cNvPr>
              <p:cNvSpPr txBox="1"/>
              <p:nvPr/>
            </p:nvSpPr>
            <p:spPr>
              <a:xfrm>
                <a:off x="5690482" y="2323673"/>
                <a:ext cx="18983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6D31596-A3CD-8B9F-864D-CE514FEBD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482" y="2323673"/>
                <a:ext cx="1898310" cy="369332"/>
              </a:xfrm>
              <a:prstGeom prst="rect">
                <a:avLst/>
              </a:prstGeom>
              <a:blipFill>
                <a:blip r:embed="rId9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873AC2-2860-E9B0-39C9-617B8FCCE070}"/>
                  </a:ext>
                </a:extLst>
              </p:cNvPr>
              <p:cNvSpPr txBox="1"/>
              <p:nvPr/>
            </p:nvSpPr>
            <p:spPr>
              <a:xfrm>
                <a:off x="6095999" y="2869721"/>
                <a:ext cx="26120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873AC2-2860-E9B0-39C9-617B8FCCE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869721"/>
                <a:ext cx="26120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F2FE4F7-9898-86E1-0C98-A230453CBC0A}"/>
              </a:ext>
            </a:extLst>
          </p:cNvPr>
          <p:cNvSpPr txBox="1"/>
          <p:nvPr/>
        </p:nvSpPr>
        <p:spPr>
          <a:xfrm>
            <a:off x="5735866" y="3244334"/>
            <a:ext cx="404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Attack to Bypass Anomaly Detector: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FE42153-DED4-761F-3C10-E233DEA5CB53}"/>
                  </a:ext>
                </a:extLst>
              </p:cNvPr>
              <p:cNvSpPr txBox="1"/>
              <p:nvPr/>
            </p:nvSpPr>
            <p:spPr>
              <a:xfrm>
                <a:off x="6095999" y="3603103"/>
                <a:ext cx="20507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FE42153-DED4-761F-3C10-E233DEA5C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603103"/>
                <a:ext cx="2050711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4BC4B0-2F53-7979-E589-F237079CFD11}"/>
                  </a:ext>
                </a:extLst>
              </p:cNvPr>
              <p:cNvSpPr txBox="1"/>
              <p:nvPr/>
            </p:nvSpPr>
            <p:spPr>
              <a:xfrm>
                <a:off x="6424234" y="3970524"/>
                <a:ext cx="1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4BC4B0-2F53-7979-E589-F237079CF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234" y="3970524"/>
                <a:ext cx="163741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BF0379AB-6043-5CF4-D023-478F58E3AE75}"/>
              </a:ext>
            </a:extLst>
          </p:cNvPr>
          <p:cNvSpPr txBox="1"/>
          <p:nvPr/>
        </p:nvSpPr>
        <p:spPr>
          <a:xfrm>
            <a:off x="8394026" y="1646401"/>
            <a:ext cx="316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of what h looks like: </a:t>
            </a:r>
          </a:p>
        </p:txBody>
      </p:sp>
    </p:spTree>
    <p:extLst>
      <p:ext uri="{BB962C8B-B14F-4D97-AF65-F5344CB8AC3E}">
        <p14:creationId xmlns:p14="http://schemas.microsoft.com/office/powerpoint/2010/main" val="1777910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AFF10-BF73-E2E7-B36D-0B314618F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12347-7B9E-0765-962A-9720821B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71" y="287852"/>
            <a:ext cx="11063786" cy="613669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Two Approaches to Find the Attack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C097AEC-9D97-2C64-7979-4397D6C2D81C}"/>
              </a:ext>
            </a:extLst>
          </p:cNvPr>
          <p:cNvCxnSpPr/>
          <p:nvPr/>
        </p:nvCxnSpPr>
        <p:spPr>
          <a:xfrm>
            <a:off x="0" y="1133339"/>
            <a:ext cx="121920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2A84EF-BE46-6C46-98F6-7FC2213A2C21}"/>
              </a:ext>
            </a:extLst>
          </p:cNvPr>
          <p:cNvSpPr txBox="1"/>
          <p:nvPr/>
        </p:nvSpPr>
        <p:spPr>
          <a:xfrm>
            <a:off x="490470" y="1280051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130CF3-147E-DF23-824C-AF02401D4F13}"/>
              </a:ext>
            </a:extLst>
          </p:cNvPr>
          <p:cNvSpPr txBox="1"/>
          <p:nvPr/>
        </p:nvSpPr>
        <p:spPr>
          <a:xfrm>
            <a:off x="1309177" y="1287600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Find</a:t>
            </a:r>
            <a:r>
              <a:rPr lang="en-US" dirty="0"/>
              <a:t>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2DCA9D-FEA0-77BB-22BC-4C4B8151BE18}"/>
                  </a:ext>
                </a:extLst>
              </p:cNvPr>
              <p:cNvSpPr txBox="1"/>
              <p:nvPr/>
            </p:nvSpPr>
            <p:spPr>
              <a:xfrm>
                <a:off x="1669310" y="1287600"/>
                <a:ext cx="26120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2DCA9D-FEA0-77BB-22BC-4C4B8151B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310" y="1287600"/>
                <a:ext cx="261206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BAE32D5-62A1-93E4-772F-2D414E644A79}"/>
              </a:ext>
            </a:extLst>
          </p:cNvPr>
          <p:cNvSpPr txBox="1"/>
          <p:nvPr/>
        </p:nvSpPr>
        <p:spPr>
          <a:xfrm>
            <a:off x="441249" y="1995864"/>
            <a:ext cx="2456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Method 1: Optimization</a:t>
            </a:r>
          </a:p>
        </p:txBody>
      </p:sp>
      <p:pic>
        <p:nvPicPr>
          <p:cNvPr id="8" name="Picture 7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CD802FB1-6C9C-7240-8E84-D3DD27D60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178" y="2412281"/>
            <a:ext cx="7002721" cy="9399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F1A0DA-DF47-D4DA-CB39-23A915B650A9}"/>
              </a:ext>
            </a:extLst>
          </p:cNvPr>
          <p:cNvSpPr txBox="1"/>
          <p:nvPr/>
        </p:nvSpPr>
        <p:spPr>
          <a:xfrm>
            <a:off x="490470" y="3455326"/>
            <a:ext cx="10163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Performance: slow in large systems (e.g., 118-bus system).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52560-3B3D-0C7F-BAF4-4F02AC9A8806}"/>
              </a:ext>
            </a:extLst>
          </p:cNvPr>
          <p:cNvSpPr txBox="1"/>
          <p:nvPr/>
        </p:nvSpPr>
        <p:spPr>
          <a:xfrm>
            <a:off x="490469" y="4129039"/>
            <a:ext cx="5899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Method 2</a:t>
            </a:r>
            <a:r>
              <a:rPr lang="en-US" dirty="0"/>
              <a:t>: Jacobian-based Linearization </a:t>
            </a:r>
          </a:p>
        </p:txBody>
      </p:sp>
      <p:pic>
        <p:nvPicPr>
          <p:cNvPr id="13" name="Picture 12" descr="A math problem with black text&#10;&#10;AI-generated content may be incorrect.">
            <a:extLst>
              <a:ext uri="{FF2B5EF4-FFF2-40B4-BE49-F238E27FC236}">
                <a16:creationId xmlns:a16="http://schemas.microsoft.com/office/drawing/2014/main" id="{59C64138-B056-D472-DD92-952149467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178" y="4658608"/>
            <a:ext cx="5687046" cy="16596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9C4EA5-FD30-F217-160C-B18FC8492A80}"/>
              </a:ext>
            </a:extLst>
          </p:cNvPr>
          <p:cNvSpPr txBox="1"/>
          <p:nvPr/>
        </p:nvSpPr>
        <p:spPr>
          <a:xfrm>
            <a:off x="441249" y="6385482"/>
            <a:ext cx="10163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Performance: fast in large systems (e.g., 118-bus system). Descent accuracy.</a:t>
            </a:r>
          </a:p>
        </p:txBody>
      </p:sp>
    </p:spTree>
    <p:extLst>
      <p:ext uri="{BB962C8B-B14F-4D97-AF65-F5344CB8AC3E}">
        <p14:creationId xmlns:p14="http://schemas.microsoft.com/office/powerpoint/2010/main" val="1853372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8FEE6-A66D-E192-7149-F9D5C1A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AB3DB-6026-728A-4879-BC64DF76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71" y="287852"/>
            <a:ext cx="11063786" cy="613669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Effect of AC Attacks (Xin’s Method Can Still Detect, 14-bus AC)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5AA1750-46E3-5EDB-ED66-D33C3A3358D0}"/>
              </a:ext>
            </a:extLst>
          </p:cNvPr>
          <p:cNvCxnSpPr/>
          <p:nvPr/>
        </p:nvCxnSpPr>
        <p:spPr>
          <a:xfrm>
            <a:off x="0" y="1133339"/>
            <a:ext cx="121920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FE431675-AC76-94A6-557C-304AC03A8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594" y="2270655"/>
            <a:ext cx="5920859" cy="25458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7824B4-47FE-9E0A-BCBD-DEAED61F44EE}"/>
              </a:ext>
            </a:extLst>
          </p:cNvPr>
          <p:cNvSpPr txBox="1"/>
          <p:nvPr/>
        </p:nvSpPr>
        <p:spPr>
          <a:xfrm>
            <a:off x="6274942" y="6255170"/>
            <a:ext cx="4017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Slightly degraded from 14-bus DC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A960A7-7632-5061-9F17-4ABAB233ABA0}"/>
              </a:ext>
            </a:extLst>
          </p:cNvPr>
          <p:cNvSpPr txBox="1"/>
          <p:nvPr/>
        </p:nvSpPr>
        <p:spPr>
          <a:xfrm>
            <a:off x="7915900" y="1854170"/>
            <a:ext cx="4017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ML-based anomaly still failed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B68A1B-37F8-D6E2-927A-6B3E0AF5D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67" y="1854170"/>
            <a:ext cx="5210249" cy="477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19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16365-A0C4-999D-F071-D68F0F0A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131CB-0EAC-3CAB-94B1-3EC9976D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71" y="287852"/>
            <a:ext cx="11063786" cy="613669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One Difference From DC System regarding Xin’s Method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4DED78A-C5DC-216D-E94B-EC2C494CB575}"/>
              </a:ext>
            </a:extLst>
          </p:cNvPr>
          <p:cNvCxnSpPr/>
          <p:nvPr/>
        </p:nvCxnSpPr>
        <p:spPr>
          <a:xfrm>
            <a:off x="0" y="1133339"/>
            <a:ext cx="121920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562A5EA-989A-E44B-EFC4-BC2D42BE5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416" y="1365158"/>
            <a:ext cx="3235105" cy="25410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18725D-0EEC-0F26-D4F7-0BCE1E81CF52}"/>
              </a:ext>
            </a:extLst>
          </p:cNvPr>
          <p:cNvSpPr txBox="1"/>
          <p:nvPr/>
        </p:nvSpPr>
        <p:spPr>
          <a:xfrm>
            <a:off x="5938282" y="3906226"/>
            <a:ext cx="2456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14-bus 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3E1FA-9E8F-7D5D-96D7-BFFE00723C60}"/>
              </a:ext>
            </a:extLst>
          </p:cNvPr>
          <p:cNvSpPr txBox="1"/>
          <p:nvPr/>
        </p:nvSpPr>
        <p:spPr>
          <a:xfrm>
            <a:off x="9173387" y="3906226"/>
            <a:ext cx="2456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118-bus AC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5142F4-0D97-1181-5101-173DBFACE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041" y="1365158"/>
            <a:ext cx="3235105" cy="2541069"/>
          </a:xfrm>
          <a:prstGeom prst="rect">
            <a:avLst/>
          </a:prstGeom>
        </p:spPr>
      </p:pic>
      <p:pic>
        <p:nvPicPr>
          <p:cNvPr id="9" name="Picture 8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ED633218-1343-3898-B560-1F9FA3EAC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89" y="1365158"/>
            <a:ext cx="3301694" cy="25410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2D8003-A887-E3CB-00BE-9AE8A27DF110}"/>
              </a:ext>
            </a:extLst>
          </p:cNvPr>
          <p:cNvSpPr txBox="1"/>
          <p:nvPr/>
        </p:nvSpPr>
        <p:spPr>
          <a:xfrm>
            <a:off x="1605954" y="3906223"/>
            <a:ext cx="2456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14-bus DC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751DE5-5325-0149-8B79-7B02DF01F721}"/>
              </a:ext>
            </a:extLst>
          </p:cNvPr>
          <p:cNvSpPr txBox="1"/>
          <p:nvPr/>
        </p:nvSpPr>
        <p:spPr>
          <a:xfrm>
            <a:off x="490470" y="5657671"/>
            <a:ext cx="10960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contrast to DC, the AC system uses a nonlinear mapping z=h(x), where the measurements lie on a 13-dimensional </a:t>
            </a:r>
            <a:r>
              <a:rPr lang="en-US" b="1" dirty="0"/>
              <a:t>nonlinear manifold</a:t>
            </a:r>
            <a:r>
              <a:rPr lang="en-US" dirty="0"/>
              <a:t> rather than a </a:t>
            </a:r>
            <a:r>
              <a:rPr lang="en-US" b="1" dirty="0"/>
              <a:t>flat subspace</a:t>
            </a:r>
            <a:r>
              <a:rPr lang="en-US" dirty="0"/>
              <a:t>. This causes the singular values to decay more gradually, with the remaining values still significantly above zero (e.g., &gt;1e-1), reflecting the curvature and variation of the manifold in the full measurement space.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AEE06-7103-F75E-A355-7EB1872F36F4}"/>
              </a:ext>
            </a:extLst>
          </p:cNvPr>
          <p:cNvSpPr txBox="1"/>
          <p:nvPr/>
        </p:nvSpPr>
        <p:spPr>
          <a:xfrm>
            <a:off x="6430923" y="4386594"/>
            <a:ext cx="502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Requires: tune the threshold in Xin’s method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6C5DCB-F0D4-8453-4605-1C762D881E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2601" y="4755925"/>
            <a:ext cx="23241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1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F5A65-6D28-400C-BE33-22E1492E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56070-609F-2574-6FD9-E5574091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71" y="287852"/>
            <a:ext cx="11063786" cy="613669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Performance on Other Systems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B3BE219-BF5B-154A-59A4-9938147A6D23}"/>
              </a:ext>
            </a:extLst>
          </p:cNvPr>
          <p:cNvCxnSpPr/>
          <p:nvPr/>
        </p:nvCxnSpPr>
        <p:spPr>
          <a:xfrm>
            <a:off x="0" y="1133339"/>
            <a:ext cx="121920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5C7E5B-F85D-2140-4ED2-F4D40EE928E7}"/>
              </a:ext>
            </a:extLst>
          </p:cNvPr>
          <p:cNvSpPr txBox="1"/>
          <p:nvPr/>
        </p:nvSpPr>
        <p:spPr>
          <a:xfrm>
            <a:off x="1874387" y="1633267"/>
            <a:ext cx="311188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30-bus AC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724D5E-FFDE-87F5-2233-FA5DD835D646}"/>
              </a:ext>
            </a:extLst>
          </p:cNvPr>
          <p:cNvSpPr txBox="1"/>
          <p:nvPr/>
        </p:nvSpPr>
        <p:spPr>
          <a:xfrm>
            <a:off x="7536883" y="2673055"/>
            <a:ext cx="4017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ML-based anomaly still failed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F54A6-995F-34B2-4F29-90CCA6C70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22" y="2103031"/>
            <a:ext cx="5064822" cy="45926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E00CE8-5269-968B-902A-45CE71041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563" y="3127448"/>
            <a:ext cx="5224507" cy="2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4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93CC5-DE15-1164-F7A5-9EB90980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B39C4-1C0C-495A-E111-5EE3C953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71" y="287852"/>
            <a:ext cx="11063786" cy="613669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Performance on Other Systems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A123080-1932-BF00-F862-83A2C7960429}"/>
              </a:ext>
            </a:extLst>
          </p:cNvPr>
          <p:cNvCxnSpPr/>
          <p:nvPr/>
        </p:nvCxnSpPr>
        <p:spPr>
          <a:xfrm>
            <a:off x="0" y="1133339"/>
            <a:ext cx="121920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744712-FA53-5E10-DF22-943A446C51B7}"/>
              </a:ext>
            </a:extLst>
          </p:cNvPr>
          <p:cNvSpPr txBox="1"/>
          <p:nvPr/>
        </p:nvSpPr>
        <p:spPr>
          <a:xfrm>
            <a:off x="1874387" y="1633267"/>
            <a:ext cx="311188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57-bus AC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61BD53-71CB-F78E-7E8A-6598A3CBCDEC}"/>
              </a:ext>
            </a:extLst>
          </p:cNvPr>
          <p:cNvSpPr txBox="1"/>
          <p:nvPr/>
        </p:nvSpPr>
        <p:spPr>
          <a:xfrm>
            <a:off x="7536883" y="2673055"/>
            <a:ext cx="4017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ML-based anomaly still failed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2E5DAC-77B2-E868-1876-3E9D36607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71" y="2113108"/>
            <a:ext cx="4944878" cy="4421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E97E32-DC4E-F5A2-6CE9-A7908D123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42387"/>
            <a:ext cx="5513587" cy="243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9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519B-C78F-F313-7CA1-DCCB24EE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FE965-8B70-8EC2-358E-36F0F3007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71" y="287852"/>
            <a:ext cx="11063786" cy="613669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Performance on Other Systems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E237512-D935-AD79-CF36-53A7F62A9D80}"/>
              </a:ext>
            </a:extLst>
          </p:cNvPr>
          <p:cNvCxnSpPr/>
          <p:nvPr/>
        </p:nvCxnSpPr>
        <p:spPr>
          <a:xfrm>
            <a:off x="0" y="1133339"/>
            <a:ext cx="121920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F6FA594-124B-368B-7F78-E552B0799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71" y="2092881"/>
            <a:ext cx="5049092" cy="45784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765403-4F8F-9560-7589-5E3B1139D385}"/>
              </a:ext>
            </a:extLst>
          </p:cNvPr>
          <p:cNvSpPr txBox="1"/>
          <p:nvPr/>
        </p:nvSpPr>
        <p:spPr>
          <a:xfrm>
            <a:off x="1874387" y="1633267"/>
            <a:ext cx="311188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118-bus AC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D10A40-1BE4-D14B-E68B-DD2C46324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415" y="3042387"/>
            <a:ext cx="5402670" cy="23844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79ACA7-0865-4830-011F-AA5EE94AFB87}"/>
              </a:ext>
            </a:extLst>
          </p:cNvPr>
          <p:cNvSpPr txBox="1"/>
          <p:nvPr/>
        </p:nvSpPr>
        <p:spPr>
          <a:xfrm>
            <a:off x="7536883" y="2673055"/>
            <a:ext cx="4017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ML-based anomaly still failed</a:t>
            </a:r>
          </a:p>
        </p:txBody>
      </p:sp>
    </p:spTree>
    <p:extLst>
      <p:ext uri="{BB962C8B-B14F-4D97-AF65-F5344CB8AC3E}">
        <p14:creationId xmlns:p14="http://schemas.microsoft.com/office/powerpoint/2010/main" val="404528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14142</TotalTime>
  <Words>300</Words>
  <Application>Microsoft Macintosh PowerPoint</Application>
  <PresentationFormat>Widescreen</PresentationFormat>
  <Paragraphs>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Null-Space Attack on AC Systems</vt:lpstr>
      <vt:lpstr>Two Approaches to Find the Attack</vt:lpstr>
      <vt:lpstr>Effect of AC Attacks (Xin’s Method Can Still Detect, 14-bus AC)</vt:lpstr>
      <vt:lpstr>One Difference From DC System regarding Xin’s Method</vt:lpstr>
      <vt:lpstr>Performance on Other Systems</vt:lpstr>
      <vt:lpstr>Performance on Other Systems</vt:lpstr>
      <vt:lpstr>Performance on Other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陈翰 肖</dc:creator>
  <cp:lastModifiedBy>陈翰 肖</cp:lastModifiedBy>
  <cp:revision>1381</cp:revision>
  <dcterms:created xsi:type="dcterms:W3CDTF">2023-09-05T20:03:19Z</dcterms:created>
  <dcterms:modified xsi:type="dcterms:W3CDTF">2025-04-09T03:37:06Z</dcterms:modified>
</cp:coreProperties>
</file>